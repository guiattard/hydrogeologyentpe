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5" r:id="rId3"/>
    <p:sldId id="269" r:id="rId4"/>
    <p:sldId id="268" r:id="rId5"/>
    <p:sldId id="266" r:id="rId6"/>
    <p:sldId id="286" r:id="rId7"/>
    <p:sldId id="284" r:id="rId8"/>
    <p:sldId id="271" r:id="rId9"/>
    <p:sldId id="267" r:id="rId10"/>
    <p:sldId id="282" r:id="rId11"/>
    <p:sldId id="283" r:id="rId12"/>
    <p:sldId id="273" r:id="rId13"/>
    <p:sldId id="285" r:id="rId14"/>
    <p:sldId id="274" r:id="rId15"/>
    <p:sldId id="287" r:id="rId16"/>
    <p:sldId id="289" r:id="rId17"/>
    <p:sldId id="276" r:id="rId18"/>
    <p:sldId id="277" r:id="rId19"/>
    <p:sldId id="288" r:id="rId20"/>
    <p:sldId id="264" r:id="rId21"/>
  </p:sldIdLst>
  <p:sldSz cx="9144000" cy="6858000" type="screen4x3"/>
  <p:notesSz cx="6805613" cy="9944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8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80573" autoAdjust="0"/>
  </p:normalViewPr>
  <p:slideViewPr>
    <p:cSldViewPr snapToGrid="0">
      <p:cViewPr varScale="1">
        <p:scale>
          <a:sx n="69" d="100"/>
          <a:sy n="69" d="100"/>
        </p:scale>
        <p:origin x="1061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2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7E9FDF8-CD88-4BEF-924F-328EF4DFCC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727827E-7AA0-4121-8E7B-D2EBB8D9E4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087E1-641F-430B-B192-E341D69E3CEA}" type="datetimeFigureOut">
              <a:rPr lang="fr-FR" smtClean="0"/>
              <a:t>18/10/2019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64ED922-2225-4F8D-835D-989569A8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527010-582A-4375-9CED-4A4E8039A4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C33FE-8B88-466E-9509-A51725A72B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6162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ED37A-56DA-4201-9E93-B471C81211F5}" type="datetimeFigureOut">
              <a:rPr lang="fr-FR" smtClean="0"/>
              <a:t>18/10/2019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46A81-DCBD-426B-AAD6-1D293AA85B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335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tototo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46A81-DCBD-426B-AAD6-1D293AA85B8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5198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46A81-DCBD-426B-AAD6-1D293AA85B8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149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46A81-DCBD-426B-AAD6-1D293AA85B8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0940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Si on peut décrire les probabilité d’atteindre l’installation du pétitionnaire, on est capable de dire la puissance maximale que l’on peut implanter autour de l’installation sans dépasser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Espace réservé des not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Si on peut décrire les probabilité d’atteindre l’installation du pétitionnaire, on est capable de dire la puissance maximale que l’on peut implanter autour de l’installation sans dépasser </a:t>
                </a:r>
                <a:r>
                  <a:rPr lang="el-GR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Δ</a:t>
                </a:r>
                <a:r>
                  <a:rPr lang="fr-FR" sz="12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𝑇</a:t>
                </a:r>
                <a:endParaRPr lang="fr-FR" dirty="0"/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46A81-DCBD-426B-AAD6-1D293AA85B87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465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85486" y="6356351"/>
            <a:ext cx="2057400" cy="365125"/>
          </a:xfrm>
        </p:spPr>
        <p:txBody>
          <a:bodyPr/>
          <a:lstStyle/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BF2A76A-DD1C-4F97-8FD9-58AE0CDC30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82083" cy="148352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DACAB0E-F6DF-43AA-83E9-B2E963BE4C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919742"/>
            <a:ext cx="9144000" cy="93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13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2207" y="6356351"/>
            <a:ext cx="2057400" cy="365125"/>
          </a:xfrm>
        </p:spPr>
        <p:txBody>
          <a:bodyPr/>
          <a:lstStyle/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C07A0F4-A1FB-45C6-9A01-3BBACE49D8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19742"/>
            <a:ext cx="9144000" cy="93825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97928D0-6800-4548-81DF-5C799C4786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1148" y="6217090"/>
            <a:ext cx="1554883" cy="55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494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70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22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27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38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76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98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69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64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10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Exploitation thermique de l'eau souterraine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296BC-ECBD-4CC1-9D5D-E102299FA1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60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00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10" Type="http://schemas.openxmlformats.org/officeDocument/2006/relationships/image" Target="../media/image161.png"/><Relationship Id="rId4" Type="http://schemas.openxmlformats.org/officeDocument/2006/relationships/image" Target="../media/image31.png"/><Relationship Id="rId9" Type="http://schemas.openxmlformats.org/officeDocument/2006/relationships/image" Target="../media/image1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hyperlink" Target="https://scholar.google.f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38660E-EE59-448C-B6EF-E31DDABCC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95707"/>
            <a:ext cx="8285356" cy="1984916"/>
          </a:xfrm>
        </p:spPr>
        <p:txBody>
          <a:bodyPr>
            <a:noAutofit/>
          </a:bodyPr>
          <a:lstStyle/>
          <a:p>
            <a:pPr algn="l"/>
            <a:r>
              <a:rPr lang="fr-FR" sz="3600" b="1" dirty="0"/>
              <a:t>Exploitation thermique de l’eau souterraine par la géothermie basse température</a:t>
            </a:r>
            <a:br>
              <a:rPr lang="fr-FR" sz="3600" b="1" dirty="0"/>
            </a:br>
            <a:endParaRPr lang="fr-FR" sz="36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6D627E-BE7E-4E9E-A2A6-CCC791A5E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388110"/>
            <a:ext cx="6055112" cy="1468022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Guillaume Attard</a:t>
            </a:r>
          </a:p>
          <a:p>
            <a:pPr algn="l"/>
            <a:r>
              <a:rPr lang="fr-FR" sz="2000" dirty="0" err="1"/>
              <a:t>Cerema</a:t>
            </a:r>
            <a:r>
              <a:rPr lang="fr-FR" sz="2000" dirty="0"/>
              <a:t> Centre-Est</a:t>
            </a:r>
            <a:br>
              <a:rPr lang="fr-FR" sz="2000" dirty="0"/>
            </a:br>
            <a:r>
              <a:rPr lang="fr-FR" sz="2000" dirty="0"/>
              <a:t>Département environnement territoires climat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1E780D-3616-4E80-ABFA-652F481BD733}"/>
              </a:ext>
            </a:extLst>
          </p:cNvPr>
          <p:cNvSpPr/>
          <p:nvPr/>
        </p:nvSpPr>
        <p:spPr>
          <a:xfrm>
            <a:off x="457200" y="6149979"/>
            <a:ext cx="7658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23/10/2019</a:t>
            </a:r>
          </a:p>
          <a:p>
            <a:r>
              <a:rPr lang="fr-FR" dirty="0"/>
              <a:t>Cours VA bâtiment 3</a:t>
            </a:r>
            <a:r>
              <a:rPr lang="fr-FR" baseline="30000" dirty="0"/>
              <a:t>ème</a:t>
            </a:r>
            <a:r>
              <a:rPr lang="fr-FR" dirty="0"/>
              <a:t> année, ENTPE</a:t>
            </a:r>
          </a:p>
        </p:txBody>
      </p:sp>
    </p:spTree>
    <p:extLst>
      <p:ext uri="{BB962C8B-B14F-4D97-AF65-F5344CB8AC3E}">
        <p14:creationId xmlns:p14="http://schemas.microsoft.com/office/powerpoint/2010/main" val="1614811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0C82E49-BD05-4863-9877-1242B243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DA5BB9-7CBF-4D74-BDBA-49DB209E0FB1}"/>
              </a:ext>
            </a:extLst>
          </p:cNvPr>
          <p:cNvSpPr/>
          <p:nvPr/>
        </p:nvSpPr>
        <p:spPr>
          <a:xfrm>
            <a:off x="475290" y="1169889"/>
            <a:ext cx="643197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fr-FR" sz="3600" i="1" u="none" dirty="0">
                <a:latin typeface="Calibri" pitchFamily="34" charset="0"/>
              </a:rPr>
              <a:t>« L’énergie géothermique des aquifères urbains constitue une source d’énergie robuste, décentralisée et renouvelable.  »</a:t>
            </a:r>
          </a:p>
          <a:p>
            <a:endParaRPr lang="fr-FR" sz="3600" i="1" u="none" dirty="0">
              <a:latin typeface="Calibri" pitchFamily="34" charset="0"/>
            </a:endParaRPr>
          </a:p>
          <a:p>
            <a:r>
              <a:rPr lang="fr-FR" sz="3600" i="1" u="none" dirty="0">
                <a:latin typeface="Calibri" pitchFamily="34" charset="0"/>
              </a:rPr>
              <a:t>Daniel </a:t>
            </a:r>
            <a:r>
              <a:rPr lang="fr-FR" sz="3600" i="1" u="none" dirty="0" err="1">
                <a:latin typeface="Calibri" pitchFamily="34" charset="0"/>
              </a:rPr>
              <a:t>Kammen</a:t>
            </a:r>
            <a:r>
              <a:rPr lang="fr-FR" sz="3600" i="1" u="none" dirty="0">
                <a:latin typeface="Calibri" pitchFamily="34" charset="0"/>
              </a:rPr>
              <a:t> et al. (2016) , Science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37674FE-C98A-47A6-A67E-9CE92ADB8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5611">
            <a:off x="6764227" y="424303"/>
            <a:ext cx="1907125" cy="2424636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D17EE8-0061-462E-AD23-78EAEA3A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63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95D49B7-46FA-4BCC-BCE7-ED928D809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915" y="1550391"/>
            <a:ext cx="6128584" cy="3902692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8A5E35-8984-4292-992A-C6C29714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038FFB-7F4A-4996-A7D8-2F52B162538A}"/>
              </a:ext>
            </a:extLst>
          </p:cNvPr>
          <p:cNvSpPr/>
          <p:nvPr/>
        </p:nvSpPr>
        <p:spPr>
          <a:xfrm>
            <a:off x="6164953" y="5440547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i="1" dirty="0"/>
              <a:t>(</a:t>
            </a:r>
            <a:r>
              <a:rPr lang="en-US" sz="1400" i="1" dirty="0" err="1"/>
              <a:t>Menberg</a:t>
            </a:r>
            <a:r>
              <a:rPr lang="en-US" sz="1400" i="1" dirty="0"/>
              <a:t> et al.)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349CBA-C70D-41DC-9F01-A8950AAC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Quelques dispositifs géothermiques classiques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17DBE5-E5E8-4951-8AAE-289D4420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7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C798A1-4FF5-45D4-8CEC-7B32CAA2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 contexte règlementaire de la géothermie de minime importance (GMI)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5C95B4-E35D-4442-BBB9-C55402564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18" y="2141536"/>
            <a:ext cx="3278332" cy="4351338"/>
          </a:xfrm>
        </p:spPr>
        <p:txBody>
          <a:bodyPr>
            <a:normAutofit/>
          </a:bodyPr>
          <a:lstStyle/>
          <a:p>
            <a:r>
              <a:rPr lang="fr-FR" sz="2000" dirty="0"/>
              <a:t>Cas général : les gîtes géothermiques relèvent du régime légal des mines (titre minier + demande d’autorisation de travaux)</a:t>
            </a:r>
          </a:p>
          <a:p>
            <a:r>
              <a:rPr lang="fr-FR" sz="2000" dirty="0"/>
              <a:t>Pour la géothermie basse température (&lt;150°C), voir ci-contre :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854ADEF-38C6-4284-95F7-1591EA53D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BFA12E-A155-44D3-90F2-CBAAE45A4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51" y="1382601"/>
            <a:ext cx="5718022" cy="449848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330B55F-FD95-4C6D-8E39-C01A30D10275}"/>
              </a:ext>
            </a:extLst>
          </p:cNvPr>
          <p:cNvSpPr txBox="1"/>
          <p:nvPr/>
        </p:nvSpPr>
        <p:spPr>
          <a:xfrm>
            <a:off x="6902424" y="5604087"/>
            <a:ext cx="22415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0" i="1" u="none" dirty="0">
                <a:latin typeface="Calibri" pitchFamily="34" charset="0"/>
              </a:rPr>
              <a:t>© BRGM géothermie perspective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034866-D817-4442-B8C2-63BDCADF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855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FD8AD5-D2AA-4262-B3A9-3819E1D2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Les particularité du milieu urbain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810D9DB-74B7-4621-A025-49C23403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Exploitation thermique de l'eau souterraine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27FACC-0FE9-48A2-8869-98BFF6B71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909" y="1814512"/>
            <a:ext cx="4502291" cy="179351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65BE498-8810-48A6-A5AA-48C7C79F9B35}"/>
              </a:ext>
            </a:extLst>
          </p:cNvPr>
          <p:cNvSpPr txBox="1"/>
          <p:nvPr/>
        </p:nvSpPr>
        <p:spPr>
          <a:xfrm>
            <a:off x="6525534" y="3331023"/>
            <a:ext cx="1115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0" i="1" u="none" dirty="0" err="1">
                <a:latin typeface="Calibri" pitchFamily="34" charset="0"/>
              </a:rPr>
              <a:t>Cerema</a:t>
            </a:r>
            <a:r>
              <a:rPr lang="fr-FR" sz="1200" b="0" i="1" u="none" dirty="0">
                <a:latin typeface="Calibri" pitchFamily="34" charset="0"/>
              </a:rPr>
              <a:t> (2018)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E773BD-38DC-4EB5-A8A4-AEAEEAF4A4F6}"/>
              </a:ext>
            </a:extLst>
          </p:cNvPr>
          <p:cNvSpPr/>
          <p:nvPr/>
        </p:nvSpPr>
        <p:spPr>
          <a:xfrm>
            <a:off x="628650" y="1460569"/>
            <a:ext cx="79597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Cohabitation des dispositifs géothermiques avec de multiples sources de chaleur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E7B3AB-7195-40C4-9294-809C94E8AD23}"/>
              </a:ext>
            </a:extLst>
          </p:cNvPr>
          <p:cNvSpPr/>
          <p:nvPr/>
        </p:nvSpPr>
        <p:spPr>
          <a:xfrm>
            <a:off x="628650" y="3731845"/>
            <a:ext cx="79597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sym typeface="Wingdings" panose="05000000000000000000" pitchFamily="2" charset="2"/>
              </a:rPr>
              <a:t>Pour optimiser le potentiel géothermique des aquifères urbains et garantir le bon fonctionnement des installations :</a:t>
            </a:r>
          </a:p>
          <a:p>
            <a:r>
              <a:rPr lang="fr-FR" sz="2000" dirty="0">
                <a:sym typeface="Wingdings" panose="05000000000000000000" pitchFamily="2" charset="2"/>
              </a:rPr>
              <a:t>Nécessité de gérer le potentiel géothermique,</a:t>
            </a:r>
          </a:p>
          <a:p>
            <a:r>
              <a:rPr lang="fr-FR" sz="2000" dirty="0">
                <a:sym typeface="Wingdings" panose="05000000000000000000" pitchFamily="2" charset="2"/>
              </a:rPr>
              <a:t>Nécessité de réguler l’implantation des installations, et de prendre quelques précautions lors du dimensionnement 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9A87180-E454-4710-91FA-C201A446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91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391C7A-A10E-4551-9835-15A7196EB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005"/>
            <a:ext cx="4939145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Focus sur les dispositifs géothermiques ouverts sur eau de nappe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8DB5F6-62ED-48E6-A099-CF5B8536A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C4A780-B9DD-484B-A576-E3AC3B62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6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57C4C5-1092-4E11-AEC2-D778F27F38D2}"/>
              </a:ext>
            </a:extLst>
          </p:cNvPr>
          <p:cNvSpPr/>
          <p:nvPr/>
        </p:nvSpPr>
        <p:spPr>
          <a:xfrm>
            <a:off x="794904" y="3060075"/>
            <a:ext cx="79597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Un bureau d’études envisage un système géothermique sur eau de nappe pour répondre aux besoins en chauffage d’un groupe de logements. </a:t>
            </a:r>
          </a:p>
          <a:p>
            <a:r>
              <a:rPr lang="fr-FR" sz="2000" dirty="0"/>
              <a:t>Vous êtes sollicité afin de préciser la faisabilité d’un tel dispositif. C’est-à-dire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Vérifier la compatibilité par rapport au contexte hydrogéologique,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Vérifier la compatibilité par rapport aux usages géothermiques existants de la nappe (installations voisines)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B66DFCA-BA75-4DD5-BDD8-2FF3E7C79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0"/>
            <a:ext cx="4038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50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7A504-B7B4-4B5A-99D1-44A63216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Fonctionnement d’une PAC sur eau de nappe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2FDBC6-E0EC-4CAD-B736-F900A07A4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1C6C5D2-0F05-473E-A7D4-3E2FE4E7E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FBE75C4-0F29-4888-BAFC-BFF84521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7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56CD8CF-30F3-46E3-B6B5-39497372F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4316"/>
            <a:ext cx="9132600" cy="414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13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9D3727-32B8-4507-8D25-A20F0B27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63" y="558643"/>
            <a:ext cx="7153311" cy="1325563"/>
          </a:xfrm>
        </p:spPr>
        <p:txBody>
          <a:bodyPr>
            <a:normAutofit/>
          </a:bodyPr>
          <a:lstStyle/>
          <a:p>
            <a:r>
              <a:rPr lang="fr-FR" sz="3600" dirty="0"/>
              <a:t>Effet hydraulique d’un pompage ou d’une injection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808A84-CDAA-4726-9FB0-320B57A7C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75185"/>
            <a:ext cx="7886700" cy="47809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Solution de Theis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/>
              <a:t>Avec :                        et 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31301CC-3E6C-4CD7-B9BE-81FEFE8C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A173F0-FFFC-4F2F-B573-91FEC166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8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09E3C37-52CA-4537-8F14-528FAC646E24}"/>
                  </a:ext>
                </a:extLst>
              </p:cNvPr>
              <p:cNvSpPr txBox="1"/>
              <p:nvPr/>
            </p:nvSpPr>
            <p:spPr>
              <a:xfrm>
                <a:off x="628650" y="2506640"/>
                <a:ext cx="362156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09E3C37-52CA-4537-8F14-528FAC646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506640"/>
                <a:ext cx="3621569" cy="520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FE72B177-FE5B-4498-8564-215D959E522F}"/>
                  </a:ext>
                </a:extLst>
              </p:cNvPr>
              <p:cNvSpPr txBox="1"/>
              <p:nvPr/>
            </p:nvSpPr>
            <p:spPr>
              <a:xfrm>
                <a:off x="1567809" y="3402769"/>
                <a:ext cx="1005275" cy="370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FE72B177-FE5B-4498-8564-215D959E5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809" y="3402769"/>
                <a:ext cx="1005275" cy="370551"/>
              </a:xfrm>
              <a:prstGeom prst="rect">
                <a:avLst/>
              </a:prstGeom>
              <a:blipFill>
                <a:blip r:embed="rId4"/>
                <a:stretch>
                  <a:fillRect l="-1212" r="-2424"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186B2A7-83BF-493B-80B4-0F3FAC85E471}"/>
                  </a:ext>
                </a:extLst>
              </p:cNvPr>
              <p:cNvSpPr txBox="1"/>
              <p:nvPr/>
            </p:nvSpPr>
            <p:spPr>
              <a:xfrm>
                <a:off x="3117612" y="3303336"/>
                <a:ext cx="1293559" cy="550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limLoc m:val="undOvr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186B2A7-83BF-493B-80B4-0F3FAC85E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612" y="3303336"/>
                <a:ext cx="1293559" cy="5505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 10">
            <a:extLst>
              <a:ext uri="{FF2B5EF4-FFF2-40B4-BE49-F238E27FC236}">
                <a16:creationId xmlns:a16="http://schemas.microsoft.com/office/drawing/2014/main" id="{922FCD5C-90AD-482C-ACFF-38571CF48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5699" y="2311122"/>
            <a:ext cx="4181609" cy="353989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990B7E4-0998-4522-AC55-F96A3D00A007}"/>
              </a:ext>
            </a:extLst>
          </p:cNvPr>
          <p:cNvSpPr/>
          <p:nvPr/>
        </p:nvSpPr>
        <p:spPr>
          <a:xfrm>
            <a:off x="2510207" y="391560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K : perméabilité</a:t>
            </a:r>
          </a:p>
          <a:p>
            <a:r>
              <a:rPr lang="fr-FR" dirty="0"/>
              <a:t>e : épaisseur de la nappe</a:t>
            </a:r>
          </a:p>
          <a:p>
            <a:r>
              <a:rPr lang="fr-FR" dirty="0"/>
              <a:t>S : emmagasinement</a:t>
            </a:r>
          </a:p>
          <a:p>
            <a:r>
              <a:rPr lang="fr-FR" dirty="0"/>
              <a:t>Q : débit puits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F0CE543-CC67-4C0E-97A9-03A61334F719}"/>
                  </a:ext>
                </a:extLst>
              </p:cNvPr>
              <p:cNvSpPr/>
              <p:nvPr/>
            </p:nvSpPr>
            <p:spPr>
              <a:xfrm>
                <a:off x="188503" y="3908350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i="1" dirty="0">
                    <a:latin typeface="Cambria Math" panose="02040503050406030204" pitchFamily="18" charset="0"/>
                  </a:rPr>
                  <a:t> </a:t>
                </a:r>
                <a:r>
                  <a:rPr lang="fr-FR" dirty="0">
                    <a:latin typeface="Cambria Math" panose="02040503050406030204" pitchFamily="18" charset="0"/>
                  </a:rPr>
                  <a:t>: </a:t>
                </a:r>
                <a:r>
                  <a:rPr lang="fr-FR" dirty="0"/>
                  <a:t>rabattement nappe</a:t>
                </a:r>
              </a:p>
              <a:p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fr-FR" dirty="0"/>
                  <a:t> : distance au puits</a:t>
                </a:r>
              </a:p>
              <a:p>
                <a:r>
                  <a:rPr lang="fr-FR" dirty="0"/>
                  <a:t>t : temps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F0CE543-CC67-4C0E-97A9-03A61334F7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03" y="3908350"/>
                <a:ext cx="4572000" cy="923330"/>
              </a:xfrm>
              <a:prstGeom prst="rect">
                <a:avLst/>
              </a:prstGeom>
              <a:blipFill>
                <a:blip r:embed="rId7"/>
                <a:stretch>
                  <a:fillRect l="-1200" t="-4605" b="-9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 14">
            <a:extLst>
              <a:ext uri="{FF2B5EF4-FFF2-40B4-BE49-F238E27FC236}">
                <a16:creationId xmlns:a16="http://schemas.microsoft.com/office/drawing/2014/main" id="{CC6DFB28-F879-4358-AFA4-20260C17CC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1961" y="1"/>
            <a:ext cx="1362039" cy="11741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C1CC1C6-518C-4196-B307-7D33A69E870A}"/>
                  </a:ext>
                </a:extLst>
              </p:cNvPr>
              <p:cNvSpPr/>
              <p:nvPr/>
            </p:nvSpPr>
            <p:spPr>
              <a:xfrm>
                <a:off x="1065470" y="5180751"/>
                <a:ext cx="2747994" cy="64633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fr-FR" b="1" dirty="0"/>
                  <a:t>Pompage :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b="1" dirty="0"/>
                  <a:t> et </a:t>
                </a:r>
                <a14:m>
                  <m:oMath xmlns:m="http://schemas.openxmlformats.org/officeDocument/2006/math">
                    <m:r>
                      <a:rPr lang="el-GR" b="1" i="1">
                        <a:latin typeface="Cambria Math" panose="02040503050406030204" pitchFamily="18" charset="0"/>
                      </a:rPr>
                      <m:t>𝜟</m:t>
                    </m:r>
                  </m:oMath>
                </a14:m>
                <a:r>
                  <a:rPr lang="fr-FR" b="1" i="1" dirty="0">
                    <a:latin typeface="Cambria Math" panose="02040503050406030204" pitchFamily="18" charset="0"/>
                  </a:rPr>
                  <a:t> </a:t>
                </a:r>
                <a:r>
                  <a:rPr lang="fr-FR" b="1" dirty="0">
                    <a:latin typeface="Cambria Math" panose="02040503050406030204" pitchFamily="18" charset="0"/>
                  </a:rPr>
                  <a:t>&lt; 0</a:t>
                </a:r>
                <a:endParaRPr lang="fr-FR" b="1" dirty="0"/>
              </a:p>
              <a:p>
                <a:r>
                  <a:rPr lang="fr-FR" b="1" dirty="0"/>
                  <a:t>Injection  :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b="1" dirty="0"/>
                  <a:t> et </a:t>
                </a:r>
                <a14:m>
                  <m:oMath xmlns:m="http://schemas.openxmlformats.org/officeDocument/2006/math">
                    <m:r>
                      <a:rPr lang="el-GR" b="1" i="1">
                        <a:latin typeface="Cambria Math" panose="02040503050406030204" pitchFamily="18" charset="0"/>
                      </a:rPr>
                      <m:t>𝜟</m:t>
                    </m:r>
                  </m:oMath>
                </a14:m>
                <a:r>
                  <a:rPr lang="fr-FR" b="1" i="1" dirty="0">
                    <a:latin typeface="Cambria Math" panose="02040503050406030204" pitchFamily="18" charset="0"/>
                  </a:rPr>
                  <a:t> </a:t>
                </a:r>
                <a:r>
                  <a:rPr lang="fr-FR" b="1" dirty="0">
                    <a:latin typeface="Cambria Math" panose="02040503050406030204" pitchFamily="18" charset="0"/>
                  </a:rPr>
                  <a:t>&gt; 0</a:t>
                </a:r>
                <a:endParaRPr lang="fr-FR" b="1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C1CC1C6-518C-4196-B307-7D33A69E87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70" y="5180751"/>
                <a:ext cx="2747994" cy="646331"/>
              </a:xfrm>
              <a:prstGeom prst="rect">
                <a:avLst/>
              </a:prstGeom>
              <a:blipFill>
                <a:blip r:embed="rId9"/>
                <a:stretch>
                  <a:fillRect l="-1766" t="-6481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6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FF10A4-D29E-4396-8826-7C40B210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1325563"/>
          </a:xfrm>
        </p:spPr>
        <p:txBody>
          <a:bodyPr>
            <a:normAutofit/>
          </a:bodyPr>
          <a:lstStyle/>
          <a:p>
            <a:r>
              <a:rPr lang="fr-FR" dirty="0"/>
              <a:t>Influence d’un puits de pompage sur un écoulement régional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261DFD-1337-4CEA-861C-1FB11351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86F502-E7CB-4F4D-B609-05DE4F26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9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4FA86D1-281F-422F-8CE9-1C69D9C2A5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49"/>
          <a:stretch/>
        </p:blipFill>
        <p:spPr>
          <a:xfrm>
            <a:off x="412595" y="3912125"/>
            <a:ext cx="4159405" cy="195057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7CF2232-F8BE-4D55-B33E-5A4360035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366" y="1902411"/>
            <a:ext cx="2460238" cy="2326995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DC92444-0946-4176-807C-B8A7E8B638BC}"/>
              </a:ext>
            </a:extLst>
          </p:cNvPr>
          <p:cNvCxnSpPr/>
          <p:nvPr/>
        </p:nvCxnSpPr>
        <p:spPr>
          <a:xfrm flipH="1">
            <a:off x="1639228" y="2509024"/>
            <a:ext cx="1434326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90A205-A8C1-41A7-B6BD-A37D0669F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95" y="1655491"/>
            <a:ext cx="8258872" cy="8535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a) Etat non perturbé de l’écoulement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2F217C75-E030-40EC-A3DB-4AAE1D814D23}"/>
              </a:ext>
            </a:extLst>
          </p:cNvPr>
          <p:cNvSpPr txBox="1">
            <a:spLocks/>
          </p:cNvSpPr>
          <p:nvPr/>
        </p:nvSpPr>
        <p:spPr>
          <a:xfrm>
            <a:off x="4902820" y="1655490"/>
            <a:ext cx="8258872" cy="85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b) Avec un puits de pompage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7CD72A5-5113-4C4D-A2DD-569C63CC7CC0}"/>
              </a:ext>
            </a:extLst>
          </p:cNvPr>
          <p:cNvCxnSpPr/>
          <p:nvPr/>
        </p:nvCxnSpPr>
        <p:spPr>
          <a:xfrm flipH="1">
            <a:off x="5647881" y="2509023"/>
            <a:ext cx="1434326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7CA566DE-5340-4C46-B0A4-BF22B1930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820" y="3972567"/>
            <a:ext cx="3826736" cy="195057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81CCD0F-E309-4D1B-8443-2F4F1E8B3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331" y="2021375"/>
            <a:ext cx="2349454" cy="2208031"/>
          </a:xfrm>
          <a:prstGeom prst="rect">
            <a:avLst/>
          </a:prstGeom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CD475178-4675-47C4-A59F-1995B18288B8}"/>
              </a:ext>
            </a:extLst>
          </p:cNvPr>
          <p:cNvCxnSpPr/>
          <p:nvPr/>
        </p:nvCxnSpPr>
        <p:spPr>
          <a:xfrm flipH="1">
            <a:off x="5638797" y="2509023"/>
            <a:ext cx="1434326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C0EC0A6D-20C2-40C4-81D0-B3BA1185124B}"/>
              </a:ext>
            </a:extLst>
          </p:cNvPr>
          <p:cNvSpPr txBox="1">
            <a:spLocks/>
          </p:cNvSpPr>
          <p:nvPr/>
        </p:nvSpPr>
        <p:spPr>
          <a:xfrm rot="16200000">
            <a:off x="-411387" y="2519108"/>
            <a:ext cx="1719815" cy="85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Vue de dessus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D876B9FE-DA39-4530-B3AE-5ED42C0253D4}"/>
              </a:ext>
            </a:extLst>
          </p:cNvPr>
          <p:cNvSpPr txBox="1">
            <a:spLocks/>
          </p:cNvSpPr>
          <p:nvPr/>
        </p:nvSpPr>
        <p:spPr>
          <a:xfrm rot="16200000">
            <a:off x="-411387" y="4576023"/>
            <a:ext cx="1719815" cy="85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Vue en coupe</a:t>
            </a:r>
          </a:p>
        </p:txBody>
      </p:sp>
    </p:spTree>
    <p:extLst>
      <p:ext uri="{BB962C8B-B14F-4D97-AF65-F5344CB8AC3E}">
        <p14:creationId xmlns:p14="http://schemas.microsoft.com/office/powerpoint/2010/main" val="1846653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FA163E9-72F4-40C2-86DA-3C4EE00795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269" y="1951901"/>
                <a:ext cx="394335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FA163E9-72F4-40C2-86DA-3C4EE0079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269" y="1951901"/>
                <a:ext cx="3943350" cy="4351338"/>
              </a:xfrm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F5C2F2-9E13-43EA-A029-AD6714F4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4F88B8A-3CC5-4739-91A8-70DD3709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10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A5FB90B-E517-4434-8639-06FCD8B4F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465" y="1482592"/>
            <a:ext cx="5616495" cy="5289955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678581FD-C83B-449F-841F-5DE359E0BAED}"/>
              </a:ext>
            </a:extLst>
          </p:cNvPr>
          <p:cNvCxnSpPr>
            <a:cxnSpLocks/>
          </p:cNvCxnSpPr>
          <p:nvPr/>
        </p:nvCxnSpPr>
        <p:spPr>
          <a:xfrm flipH="1">
            <a:off x="5571563" y="3985882"/>
            <a:ext cx="1395590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C29D274D-3ADE-421C-9AF2-B3CB02DECB29}"/>
              </a:ext>
            </a:extLst>
          </p:cNvPr>
          <p:cNvSpPr/>
          <p:nvPr/>
        </p:nvSpPr>
        <p:spPr>
          <a:xfrm>
            <a:off x="4222191" y="2572577"/>
            <a:ext cx="4675273" cy="2862415"/>
          </a:xfrm>
          <a:custGeom>
            <a:avLst/>
            <a:gdLst>
              <a:gd name="connsiteX0" fmla="*/ 3057235 w 3068386"/>
              <a:gd name="connsiteY0" fmla="*/ 0 h 2096430"/>
              <a:gd name="connsiteX1" fmla="*/ 2298952 w 3068386"/>
              <a:gd name="connsiteY1" fmla="*/ 44605 h 2096430"/>
              <a:gd name="connsiteX2" fmla="*/ 1384552 w 3068386"/>
              <a:gd name="connsiteY2" fmla="*/ 144966 h 2096430"/>
              <a:gd name="connsiteX3" fmla="*/ 525908 w 3068386"/>
              <a:gd name="connsiteY3" fmla="*/ 345688 h 2096430"/>
              <a:gd name="connsiteX4" fmla="*/ 113313 w 3068386"/>
              <a:gd name="connsiteY4" fmla="*/ 669073 h 2096430"/>
              <a:gd name="connsiteX5" fmla="*/ 1801 w 3068386"/>
              <a:gd name="connsiteY5" fmla="*/ 1070517 h 2096430"/>
              <a:gd name="connsiteX6" fmla="*/ 57557 w 3068386"/>
              <a:gd name="connsiteY6" fmla="*/ 1326995 h 2096430"/>
              <a:gd name="connsiteX7" fmla="*/ 224825 w 3068386"/>
              <a:gd name="connsiteY7" fmla="*/ 1550020 h 2096430"/>
              <a:gd name="connsiteX8" fmla="*/ 782386 w 3068386"/>
              <a:gd name="connsiteY8" fmla="*/ 1851103 h 2096430"/>
              <a:gd name="connsiteX9" fmla="*/ 1930962 w 3068386"/>
              <a:gd name="connsiteY9" fmla="*/ 2040673 h 2096430"/>
              <a:gd name="connsiteX10" fmla="*/ 3068386 w 3068386"/>
              <a:gd name="connsiteY10" fmla="*/ 2096430 h 209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68386" h="2096430">
                <a:moveTo>
                  <a:pt x="3057235" y="0"/>
                </a:moveTo>
                <a:cubicBezTo>
                  <a:pt x="2817483" y="10222"/>
                  <a:pt x="2577732" y="20444"/>
                  <a:pt x="2298952" y="44605"/>
                </a:cubicBezTo>
                <a:cubicBezTo>
                  <a:pt x="2020172" y="68766"/>
                  <a:pt x="1680059" y="94786"/>
                  <a:pt x="1384552" y="144966"/>
                </a:cubicBezTo>
                <a:cubicBezTo>
                  <a:pt x="1089045" y="195146"/>
                  <a:pt x="737781" y="258337"/>
                  <a:pt x="525908" y="345688"/>
                </a:cubicBezTo>
                <a:cubicBezTo>
                  <a:pt x="314035" y="433039"/>
                  <a:pt x="200664" y="548268"/>
                  <a:pt x="113313" y="669073"/>
                </a:cubicBezTo>
                <a:cubicBezTo>
                  <a:pt x="25962" y="789878"/>
                  <a:pt x="11094" y="960863"/>
                  <a:pt x="1801" y="1070517"/>
                </a:cubicBezTo>
                <a:cubicBezTo>
                  <a:pt x="-7492" y="1180171"/>
                  <a:pt x="20386" y="1247078"/>
                  <a:pt x="57557" y="1326995"/>
                </a:cubicBezTo>
                <a:cubicBezTo>
                  <a:pt x="94728" y="1406912"/>
                  <a:pt x="104020" y="1462669"/>
                  <a:pt x="224825" y="1550020"/>
                </a:cubicBezTo>
                <a:cubicBezTo>
                  <a:pt x="345630" y="1637371"/>
                  <a:pt x="498030" y="1769328"/>
                  <a:pt x="782386" y="1851103"/>
                </a:cubicBezTo>
                <a:cubicBezTo>
                  <a:pt x="1066742" y="1932879"/>
                  <a:pt x="1549962" y="1999785"/>
                  <a:pt x="1930962" y="2040673"/>
                </a:cubicBezTo>
                <a:cubicBezTo>
                  <a:pt x="2311962" y="2081561"/>
                  <a:pt x="2690174" y="2088995"/>
                  <a:pt x="3068386" y="2096430"/>
                </a:cubicBezTo>
              </a:path>
            </a:pathLst>
          </a:custGeom>
          <a:noFill/>
          <a:ln w="5715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7CEBA7B-B1E2-43D1-AF03-451031B8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69" y="445013"/>
            <a:ext cx="6736668" cy="1325563"/>
          </a:xfrm>
        </p:spPr>
        <p:txBody>
          <a:bodyPr>
            <a:normAutofit fontScale="90000"/>
          </a:bodyPr>
          <a:lstStyle/>
          <a:p>
            <a:r>
              <a:rPr lang="fr-FR" sz="3600" dirty="0"/>
              <a:t>Systèmes d’écoulement et zone de capture autour d’un puits de </a:t>
            </a:r>
            <a:r>
              <a:rPr lang="fr-FR" sz="3600" b="1" u="sng" dirty="0">
                <a:solidFill>
                  <a:srgbClr val="FF0000"/>
                </a:solidFill>
              </a:rPr>
              <a:t>pompage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C562263-9E13-4163-BAAA-9DB2B1467C21}"/>
              </a:ext>
            </a:extLst>
          </p:cNvPr>
          <p:cNvCxnSpPr>
            <a:cxnSpLocks/>
          </p:cNvCxnSpPr>
          <p:nvPr/>
        </p:nvCxnSpPr>
        <p:spPr>
          <a:xfrm>
            <a:off x="9043639" y="2698595"/>
            <a:ext cx="0" cy="2598234"/>
          </a:xfrm>
          <a:prstGeom prst="straightConnector1">
            <a:avLst/>
          </a:prstGeom>
          <a:ln w="19050"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23B9130-4049-4CA2-8EA2-D1ECD090C6F4}"/>
                  </a:ext>
                </a:extLst>
              </p:cNvPr>
              <p:cNvSpPr/>
              <p:nvPr/>
            </p:nvSpPr>
            <p:spPr>
              <a:xfrm>
                <a:off x="8540597" y="3681271"/>
                <a:ext cx="59900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sz="32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23B9130-4049-4CA2-8EA2-D1ECD090C6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597" y="3681271"/>
                <a:ext cx="5990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08AEF9F8-B6B8-44A9-907A-988655D7FEE9}"/>
              </a:ext>
            </a:extLst>
          </p:cNvPr>
          <p:cNvCxnSpPr>
            <a:cxnSpLocks/>
          </p:cNvCxnSpPr>
          <p:nvPr/>
        </p:nvCxnSpPr>
        <p:spPr>
          <a:xfrm flipH="1">
            <a:off x="4574669" y="3266631"/>
            <a:ext cx="2905" cy="1506260"/>
          </a:xfrm>
          <a:prstGeom prst="straightConnector1">
            <a:avLst/>
          </a:prstGeom>
          <a:ln w="19050"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EE917FD-0E8E-45D1-9B7D-BD0BE14932AA}"/>
                  </a:ext>
                </a:extLst>
              </p:cNvPr>
              <p:cNvSpPr/>
              <p:nvPr/>
            </p:nvSpPr>
            <p:spPr>
              <a:xfrm>
                <a:off x="4509168" y="4127569"/>
                <a:ext cx="59900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32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EE917FD-0E8E-45D1-9B7D-BD0BE14932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168" y="4127569"/>
                <a:ext cx="59900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38528726-4A7C-4FCB-BBF1-4BDE0B95E162}"/>
              </a:ext>
            </a:extLst>
          </p:cNvPr>
          <p:cNvSpPr/>
          <p:nvPr/>
        </p:nvSpPr>
        <p:spPr>
          <a:xfrm>
            <a:off x="105162" y="440097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K : perméabilité</a:t>
            </a:r>
          </a:p>
          <a:p>
            <a:r>
              <a:rPr lang="fr-FR" dirty="0"/>
              <a:t>e : épaisseur de la nappe</a:t>
            </a:r>
          </a:p>
          <a:p>
            <a:r>
              <a:rPr lang="fr-FR" dirty="0"/>
              <a:t>i : gradient de la nappe</a:t>
            </a:r>
          </a:p>
          <a:p>
            <a:r>
              <a:rPr lang="fr-FR" dirty="0"/>
              <a:t>Q : débit puits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10B8CFF0-C5E7-4004-B53A-4CCC5BF1E66A}"/>
              </a:ext>
            </a:extLst>
          </p:cNvPr>
          <p:cNvCxnSpPr>
            <a:cxnSpLocks/>
          </p:cNvCxnSpPr>
          <p:nvPr/>
        </p:nvCxnSpPr>
        <p:spPr>
          <a:xfrm flipH="1">
            <a:off x="5626700" y="2061655"/>
            <a:ext cx="976700" cy="163831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01959894-AEF5-44D8-B810-0C89089C4A9B}"/>
              </a:ext>
            </a:extLst>
          </p:cNvPr>
          <p:cNvCxnSpPr>
            <a:cxnSpLocks/>
          </p:cNvCxnSpPr>
          <p:nvPr/>
        </p:nvCxnSpPr>
        <p:spPr>
          <a:xfrm flipH="1" flipV="1">
            <a:off x="5644372" y="5747757"/>
            <a:ext cx="915455" cy="147914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68DC465-58A8-452E-A72F-C70D69E322D9}"/>
              </a:ext>
            </a:extLst>
          </p:cNvPr>
          <p:cNvSpPr/>
          <p:nvPr/>
        </p:nvSpPr>
        <p:spPr>
          <a:xfrm>
            <a:off x="7955429" y="191438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/>
              <a:t>Zone </a:t>
            </a:r>
          </a:p>
          <a:p>
            <a:r>
              <a:rPr lang="fr-FR" b="1" dirty="0"/>
              <a:t>De capture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41D712D0-C121-4968-92CA-801D55CD76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1961" y="1"/>
            <a:ext cx="1362039" cy="117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096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FA163E9-72F4-40C2-86DA-3C4EE00795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269" y="1951901"/>
                <a:ext cx="394335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FA163E9-72F4-40C2-86DA-3C4EE0079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269" y="1951901"/>
                <a:ext cx="3943350" cy="4351338"/>
              </a:xfrm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F5C2F2-9E13-43EA-A029-AD6714F4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4F88B8A-3CC5-4739-91A8-70DD3709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11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A5FB90B-E517-4434-8639-06FCD8B4F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465" y="1482592"/>
            <a:ext cx="5616495" cy="5289955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678581FD-C83B-449F-841F-5DE359E0BAED}"/>
              </a:ext>
            </a:extLst>
          </p:cNvPr>
          <p:cNvCxnSpPr>
            <a:cxnSpLocks/>
          </p:cNvCxnSpPr>
          <p:nvPr/>
        </p:nvCxnSpPr>
        <p:spPr>
          <a:xfrm>
            <a:off x="5452946" y="3985882"/>
            <a:ext cx="1062289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C29D274D-3ADE-421C-9AF2-B3CB02DECB29}"/>
              </a:ext>
            </a:extLst>
          </p:cNvPr>
          <p:cNvSpPr/>
          <p:nvPr/>
        </p:nvSpPr>
        <p:spPr>
          <a:xfrm>
            <a:off x="4222191" y="2572577"/>
            <a:ext cx="4675273" cy="2862415"/>
          </a:xfrm>
          <a:custGeom>
            <a:avLst/>
            <a:gdLst>
              <a:gd name="connsiteX0" fmla="*/ 3057235 w 3068386"/>
              <a:gd name="connsiteY0" fmla="*/ 0 h 2096430"/>
              <a:gd name="connsiteX1" fmla="*/ 2298952 w 3068386"/>
              <a:gd name="connsiteY1" fmla="*/ 44605 h 2096430"/>
              <a:gd name="connsiteX2" fmla="*/ 1384552 w 3068386"/>
              <a:gd name="connsiteY2" fmla="*/ 144966 h 2096430"/>
              <a:gd name="connsiteX3" fmla="*/ 525908 w 3068386"/>
              <a:gd name="connsiteY3" fmla="*/ 345688 h 2096430"/>
              <a:gd name="connsiteX4" fmla="*/ 113313 w 3068386"/>
              <a:gd name="connsiteY4" fmla="*/ 669073 h 2096430"/>
              <a:gd name="connsiteX5" fmla="*/ 1801 w 3068386"/>
              <a:gd name="connsiteY5" fmla="*/ 1070517 h 2096430"/>
              <a:gd name="connsiteX6" fmla="*/ 57557 w 3068386"/>
              <a:gd name="connsiteY6" fmla="*/ 1326995 h 2096430"/>
              <a:gd name="connsiteX7" fmla="*/ 224825 w 3068386"/>
              <a:gd name="connsiteY7" fmla="*/ 1550020 h 2096430"/>
              <a:gd name="connsiteX8" fmla="*/ 782386 w 3068386"/>
              <a:gd name="connsiteY8" fmla="*/ 1851103 h 2096430"/>
              <a:gd name="connsiteX9" fmla="*/ 1930962 w 3068386"/>
              <a:gd name="connsiteY9" fmla="*/ 2040673 h 2096430"/>
              <a:gd name="connsiteX10" fmla="*/ 3068386 w 3068386"/>
              <a:gd name="connsiteY10" fmla="*/ 2096430 h 2096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68386" h="2096430">
                <a:moveTo>
                  <a:pt x="3057235" y="0"/>
                </a:moveTo>
                <a:cubicBezTo>
                  <a:pt x="2817483" y="10222"/>
                  <a:pt x="2577732" y="20444"/>
                  <a:pt x="2298952" y="44605"/>
                </a:cubicBezTo>
                <a:cubicBezTo>
                  <a:pt x="2020172" y="68766"/>
                  <a:pt x="1680059" y="94786"/>
                  <a:pt x="1384552" y="144966"/>
                </a:cubicBezTo>
                <a:cubicBezTo>
                  <a:pt x="1089045" y="195146"/>
                  <a:pt x="737781" y="258337"/>
                  <a:pt x="525908" y="345688"/>
                </a:cubicBezTo>
                <a:cubicBezTo>
                  <a:pt x="314035" y="433039"/>
                  <a:pt x="200664" y="548268"/>
                  <a:pt x="113313" y="669073"/>
                </a:cubicBezTo>
                <a:cubicBezTo>
                  <a:pt x="25962" y="789878"/>
                  <a:pt x="11094" y="960863"/>
                  <a:pt x="1801" y="1070517"/>
                </a:cubicBezTo>
                <a:cubicBezTo>
                  <a:pt x="-7492" y="1180171"/>
                  <a:pt x="20386" y="1247078"/>
                  <a:pt x="57557" y="1326995"/>
                </a:cubicBezTo>
                <a:cubicBezTo>
                  <a:pt x="94728" y="1406912"/>
                  <a:pt x="104020" y="1462669"/>
                  <a:pt x="224825" y="1550020"/>
                </a:cubicBezTo>
                <a:cubicBezTo>
                  <a:pt x="345630" y="1637371"/>
                  <a:pt x="498030" y="1769328"/>
                  <a:pt x="782386" y="1851103"/>
                </a:cubicBezTo>
                <a:cubicBezTo>
                  <a:pt x="1066742" y="1932879"/>
                  <a:pt x="1549962" y="1999785"/>
                  <a:pt x="1930962" y="2040673"/>
                </a:cubicBezTo>
                <a:cubicBezTo>
                  <a:pt x="2311962" y="2081561"/>
                  <a:pt x="2690174" y="2088995"/>
                  <a:pt x="3068386" y="2096430"/>
                </a:cubicBezTo>
              </a:path>
            </a:pathLst>
          </a:custGeom>
          <a:noFill/>
          <a:ln w="5715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C562263-9E13-4163-BAAA-9DB2B1467C21}"/>
              </a:ext>
            </a:extLst>
          </p:cNvPr>
          <p:cNvCxnSpPr>
            <a:cxnSpLocks/>
          </p:cNvCxnSpPr>
          <p:nvPr/>
        </p:nvCxnSpPr>
        <p:spPr>
          <a:xfrm>
            <a:off x="9043639" y="2698595"/>
            <a:ext cx="0" cy="2598234"/>
          </a:xfrm>
          <a:prstGeom prst="straightConnector1">
            <a:avLst/>
          </a:prstGeom>
          <a:ln w="19050"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23B9130-4049-4CA2-8EA2-D1ECD090C6F4}"/>
                  </a:ext>
                </a:extLst>
              </p:cNvPr>
              <p:cNvSpPr/>
              <p:nvPr/>
            </p:nvSpPr>
            <p:spPr>
              <a:xfrm>
                <a:off x="8540597" y="3681271"/>
                <a:ext cx="59900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sz="32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23B9130-4049-4CA2-8EA2-D1ECD090C6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597" y="3681271"/>
                <a:ext cx="5990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08AEF9F8-B6B8-44A9-907A-988655D7FEE9}"/>
              </a:ext>
            </a:extLst>
          </p:cNvPr>
          <p:cNvCxnSpPr>
            <a:cxnSpLocks/>
            <a:endCxn id="9" idx="7"/>
          </p:cNvCxnSpPr>
          <p:nvPr/>
        </p:nvCxnSpPr>
        <p:spPr>
          <a:xfrm>
            <a:off x="4561057" y="3319481"/>
            <a:ext cx="3698" cy="1369456"/>
          </a:xfrm>
          <a:prstGeom prst="straightConnector1">
            <a:avLst/>
          </a:prstGeom>
          <a:ln w="19050"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EE917FD-0E8E-45D1-9B7D-BD0BE14932AA}"/>
                  </a:ext>
                </a:extLst>
              </p:cNvPr>
              <p:cNvSpPr/>
              <p:nvPr/>
            </p:nvSpPr>
            <p:spPr>
              <a:xfrm>
                <a:off x="4631829" y="4127569"/>
                <a:ext cx="59900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32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EE917FD-0E8E-45D1-9B7D-BD0BE14932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1829" y="4127569"/>
                <a:ext cx="59900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38528726-4A7C-4FCB-BBF1-4BDE0B95E162}"/>
              </a:ext>
            </a:extLst>
          </p:cNvPr>
          <p:cNvSpPr/>
          <p:nvPr/>
        </p:nvSpPr>
        <p:spPr>
          <a:xfrm>
            <a:off x="105162" y="440097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K : perméabilité</a:t>
            </a:r>
          </a:p>
          <a:p>
            <a:r>
              <a:rPr lang="fr-FR" dirty="0"/>
              <a:t>e : épaisseur de la nappe</a:t>
            </a:r>
          </a:p>
          <a:p>
            <a:r>
              <a:rPr lang="fr-FR" dirty="0"/>
              <a:t>i : gradient de la nappe</a:t>
            </a:r>
          </a:p>
          <a:p>
            <a:r>
              <a:rPr lang="fr-FR" dirty="0"/>
              <a:t>Q : débit puits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10B8CFF0-C5E7-4004-B53A-4CCC5BF1E66A}"/>
              </a:ext>
            </a:extLst>
          </p:cNvPr>
          <p:cNvCxnSpPr>
            <a:cxnSpLocks/>
          </p:cNvCxnSpPr>
          <p:nvPr/>
        </p:nvCxnSpPr>
        <p:spPr>
          <a:xfrm flipV="1">
            <a:off x="4631829" y="2219093"/>
            <a:ext cx="1032991" cy="256479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01959894-AEF5-44D8-B810-0C89089C4A9B}"/>
              </a:ext>
            </a:extLst>
          </p:cNvPr>
          <p:cNvCxnSpPr>
            <a:cxnSpLocks/>
          </p:cNvCxnSpPr>
          <p:nvPr/>
        </p:nvCxnSpPr>
        <p:spPr>
          <a:xfrm>
            <a:off x="4697330" y="5434992"/>
            <a:ext cx="1115642" cy="264634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68DC465-58A8-452E-A72F-C70D69E322D9}"/>
              </a:ext>
            </a:extLst>
          </p:cNvPr>
          <p:cNvSpPr/>
          <p:nvPr/>
        </p:nvSpPr>
        <p:spPr>
          <a:xfrm>
            <a:off x="7910824" y="189592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/>
              <a:t>Zone </a:t>
            </a:r>
          </a:p>
          <a:p>
            <a:r>
              <a:rPr lang="fr-FR" b="1" dirty="0"/>
              <a:t>D‘influence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179834F2-FEF5-4611-8D61-12ECCFFCF0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1961" y="1"/>
            <a:ext cx="1362039" cy="1174172"/>
          </a:xfrm>
          <a:prstGeom prst="rect">
            <a:avLst/>
          </a:prstGeom>
        </p:spPr>
      </p:pic>
      <p:sp>
        <p:nvSpPr>
          <p:cNvPr id="27" name="Titre 1">
            <a:extLst>
              <a:ext uri="{FF2B5EF4-FFF2-40B4-BE49-F238E27FC236}">
                <a16:creationId xmlns:a16="http://schemas.microsoft.com/office/drawing/2014/main" id="{46FF17C1-7DBF-4879-B723-F817C4DC8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69" y="445013"/>
            <a:ext cx="6736668" cy="1325563"/>
          </a:xfrm>
        </p:spPr>
        <p:txBody>
          <a:bodyPr>
            <a:normAutofit fontScale="90000"/>
          </a:bodyPr>
          <a:lstStyle/>
          <a:p>
            <a:r>
              <a:rPr lang="fr-FR" sz="3600" dirty="0"/>
              <a:t>Systèmes d’écoulement et zone de capture autour d’un puits d’</a:t>
            </a:r>
            <a:r>
              <a:rPr lang="fr-FR" sz="3600" b="1" u="sng" dirty="0">
                <a:solidFill>
                  <a:srgbClr val="FF0000"/>
                </a:solidFill>
              </a:rPr>
              <a:t>injection</a:t>
            </a:r>
          </a:p>
        </p:txBody>
      </p:sp>
    </p:spTree>
    <p:extLst>
      <p:ext uri="{BB962C8B-B14F-4D97-AF65-F5344CB8AC3E}">
        <p14:creationId xmlns:p14="http://schemas.microsoft.com/office/powerpoint/2010/main" val="893296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98AE7A-208D-42DF-A5AA-3A7E1D2E4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53" y="-107369"/>
            <a:ext cx="7886700" cy="1325563"/>
          </a:xfrm>
        </p:spPr>
        <p:txBody>
          <a:bodyPr/>
          <a:lstStyle/>
          <a:p>
            <a:r>
              <a:rPr lang="fr-FR" dirty="0"/>
              <a:t>Problème du recyclage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834520-6A4E-476B-B41E-5AEC43C04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453" y="851626"/>
            <a:ext cx="7886700" cy="4351338"/>
          </a:xfrm>
        </p:spPr>
        <p:txBody>
          <a:bodyPr/>
          <a:lstStyle/>
          <a:p>
            <a:r>
              <a:rPr lang="fr-FR" dirty="0" err="1"/>
              <a:t>Milnes</a:t>
            </a:r>
            <a:r>
              <a:rPr lang="fr-FR" dirty="0"/>
              <a:t> &amp; </a:t>
            </a:r>
            <a:r>
              <a:rPr lang="fr-FR" dirty="0" err="1"/>
              <a:t>Perrochet</a:t>
            </a:r>
            <a:r>
              <a:rPr lang="fr-FR" dirty="0"/>
              <a:t> (2012)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22E98A6-4D41-4E64-B775-B8FD8B693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2D737B9-333F-4790-B4F6-96C679425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12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F8B5142-8DDA-427D-AADB-EFDE4973F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4315"/>
            <a:ext cx="8822028" cy="544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139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F9E575-71C0-4AB6-9199-74D8B025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 pour éviter le recyclage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95BAF5-90B5-4047-B044-3C9709C94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1192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Distance à respecter entre le puits de pompage et le puits de rejet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686AFE-B18F-4D03-90EB-1A095D1F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83F3E46-F52D-4E99-8E14-8D59774FE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13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931F5C0-EAC5-4D05-BF2A-B8FA377875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070"/>
          <a:stretch/>
        </p:blipFill>
        <p:spPr>
          <a:xfrm>
            <a:off x="2164584" y="2467910"/>
            <a:ext cx="4355712" cy="192218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473A0EE-B8B3-4D44-9543-B285C59D9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022" y="4626573"/>
            <a:ext cx="1263087" cy="10739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2B03AF-256B-4D8E-B011-4ABCF13DAFDD}"/>
              </a:ext>
            </a:extLst>
          </p:cNvPr>
          <p:cNvSpPr/>
          <p:nvPr/>
        </p:nvSpPr>
        <p:spPr>
          <a:xfrm>
            <a:off x="1436108" y="4626573"/>
            <a:ext cx="71957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Ce critère n’est valable que si le puits de pompage est situé à l’amont du puits d’injection , dans l’axe de l’écoulement régional.</a:t>
            </a:r>
          </a:p>
        </p:txBody>
      </p:sp>
    </p:spTree>
    <p:extLst>
      <p:ext uri="{BB962C8B-B14F-4D97-AF65-F5344CB8AC3E}">
        <p14:creationId xmlns:p14="http://schemas.microsoft.com/office/powerpoint/2010/main" val="3081514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522CEE-3035-4EFC-A438-B75A2F965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37634"/>
            <a:ext cx="6229350" cy="1325563"/>
          </a:xfrm>
        </p:spPr>
        <p:txBody>
          <a:bodyPr>
            <a:normAutofit/>
          </a:bodyPr>
          <a:lstStyle/>
          <a:p>
            <a:r>
              <a:rPr lang="fr-FR" sz="3600" dirty="0"/>
              <a:t>Impact thermique à l’aval d’un puits d’injection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D27903-8D25-4607-9714-0738D9D1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9EA06A-0419-45DB-93F5-ED8C12B28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14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5ADCFE-4235-4D50-A4D6-485B84C9C113}"/>
                  </a:ext>
                </a:extLst>
              </p:cNvPr>
              <p:cNvSpPr/>
              <p:nvPr/>
            </p:nvSpPr>
            <p:spPr>
              <a:xfrm>
                <a:off x="486177" y="1518140"/>
                <a:ext cx="8171645" cy="23125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  <a:spcBef>
                    <a:spcPts val="1200"/>
                  </a:spcBef>
                  <a:spcAft>
                    <a:spcPts val="0"/>
                  </a:spcAft>
                  <a:tabLst>
                    <a:tab pos="549084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∆</m:t>
                      </m:r>
                      <m:r>
                        <a:rPr lang="en-GB" sz="16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𝑇</m:t>
                      </m:r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𝑦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160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∆</m:t>
                                  </m:r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GB" sz="160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erfc</m:t>
                      </m:r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𝑅𝑥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GB" sz="1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GB" sz="16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fr-FR" sz="1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𝑅𝑡</m:t>
                                  </m:r>
                                </m:e>
                              </m:rad>
                              <m:r>
                                <a:rPr lang="en-GB" sz="16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fr-F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S Mincho" panose="02020609040205080304" pitchFamily="49" charset="-128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erf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S Mincho" panose="02020609040205080304" pitchFamily="49" charset="-128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1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fr-FR" sz="1600" i="1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𝑌</m:t>
                                          </m:r>
                                        </m:num>
                                        <m:den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num>
                                    <m:den>
                                      <m:r>
                                        <a:rPr lang="en-GB" sz="16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2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fr-FR" sz="1600" i="1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b>
                                            <m:sSubPr>
                                              <m:ctrlPr>
                                                <a:rPr lang="fr-FR" sz="1600" i="1"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1600" i="1"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1600" i="1"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fr-FR" sz="1600" i="1"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GB" sz="1600" i="1"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fr-FR" sz="1600" i="1"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sz="1600" i="1"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</a:rPr>
                                                    <m:t>𝑣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sz="1600" i="1"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</a:rPr>
                                                    <m:t>𝑎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GB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erf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S Mincho" panose="02020609040205080304" pitchFamily="49" charset="-128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1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fr-FR" sz="1600" i="1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𝑌</m:t>
                                          </m:r>
                                        </m:num>
                                        <m:den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num>
                                    <m:den>
                                      <m:r>
                                        <a:rPr lang="en-GB" sz="16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2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fr-FR" sz="1600" i="1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b>
                                            <m:sSubPr>
                                              <m:ctrlPr>
                                                <a:rPr lang="fr-FR" sz="1600" i="1"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1600" i="1"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1600" i="1"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fr-FR" sz="1600" i="1"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GB" sz="1600" i="1"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fr-FR" sz="1600" i="1"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sz="1600" i="1"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</a:rPr>
                                                    <m:t>𝑣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sz="1600" i="1"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</a:rPr>
                                                    <m:t>𝑎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fr-FR" sz="16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5ADCFE-4235-4D50-A4D6-485B84C9C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77" y="1518140"/>
                <a:ext cx="8171645" cy="23125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 6">
            <a:extLst>
              <a:ext uri="{FF2B5EF4-FFF2-40B4-BE49-F238E27FC236}">
                <a16:creationId xmlns:a16="http://schemas.microsoft.com/office/drawing/2014/main" id="{31EB5F04-E6C7-4D02-82C4-C3D858298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84014"/>
            <a:ext cx="2812559" cy="2599656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D8DD3A2D-4F4C-433F-B467-CD457E8E8026}"/>
              </a:ext>
            </a:extLst>
          </p:cNvPr>
          <p:cNvSpPr txBox="1">
            <a:spLocks/>
          </p:cNvSpPr>
          <p:nvPr/>
        </p:nvSpPr>
        <p:spPr>
          <a:xfrm>
            <a:off x="628650" y="2053826"/>
            <a:ext cx="7886700" cy="4123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Hähnlein et al. (2010), Pophillat et al. (2018)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4665D9C-4642-4938-9828-E69881674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5031" y="3830696"/>
            <a:ext cx="6184576" cy="204091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26CEB09-D689-4A4C-AD6C-5CFEFE7D8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961" y="1"/>
            <a:ext cx="1362039" cy="117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10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DA3D28-2FF4-4E56-A031-A83AD2CE0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7"/>
            <a:ext cx="8510957" cy="460064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Définir un périmètre de protection (volume d’exploitation) autour des installations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703FAA5-BF3A-48F6-93F5-7F0B782D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D3B75DA-0ABF-4155-8029-977E39D4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15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65A0E36-65B4-4662-B56B-6EB286421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750" y="2255345"/>
            <a:ext cx="5505900" cy="3728460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3912BE6-C395-4E69-B032-27475CDCA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35076"/>
            <a:ext cx="8629650" cy="2062163"/>
          </a:xfrm>
        </p:spPr>
        <p:txBody>
          <a:bodyPr>
            <a:normAutofit/>
          </a:bodyPr>
          <a:lstStyle/>
          <a:p>
            <a:r>
              <a:rPr lang="fr-FR" sz="2400" dirty="0"/>
              <a:t>Une fois le périmètre déterminé, l’arrivée d’une ou plusieurs installations GMI </a:t>
            </a:r>
            <a:r>
              <a:rPr lang="fr-FR" sz="2400" b="1" dirty="0"/>
              <a:t>ne doit pas perturber</a:t>
            </a:r>
            <a:r>
              <a:rPr lang="fr-FR" sz="2400" dirty="0"/>
              <a:t> le fonctionnement de l’installation autorisée. 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549CB5C0-9CE9-422C-8806-1C1284294C06}"/>
              </a:ext>
            </a:extLst>
          </p:cNvPr>
          <p:cNvSpPr txBox="1">
            <a:spLocks/>
          </p:cNvSpPr>
          <p:nvPr/>
        </p:nvSpPr>
        <p:spPr>
          <a:xfrm>
            <a:off x="5124450" y="2735418"/>
            <a:ext cx="4152900" cy="27028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600" dirty="0"/>
              <a:t>Le VE va ainsi dépendre :</a:t>
            </a:r>
          </a:p>
          <a:p>
            <a:r>
              <a:rPr lang="fr-FR" sz="2400" dirty="0"/>
              <a:t>De la puissance du dispositif,</a:t>
            </a:r>
          </a:p>
          <a:p>
            <a:r>
              <a:rPr lang="fr-FR" sz="2400" dirty="0"/>
              <a:t>De la durée du permis,</a:t>
            </a:r>
          </a:p>
          <a:p>
            <a:r>
              <a:rPr lang="fr-FR" sz="2400" dirty="0"/>
              <a:t>Du contexte hydrogéologique (piézométrie, épaisseur de la nappe, etc.)</a:t>
            </a:r>
          </a:p>
          <a:p>
            <a:r>
              <a:rPr lang="fr-FR" sz="2400" dirty="0"/>
              <a:t>Des propriétés thermiques du sol</a:t>
            </a:r>
          </a:p>
        </p:txBody>
      </p:sp>
    </p:spTree>
    <p:extLst>
      <p:ext uri="{BB962C8B-B14F-4D97-AF65-F5344CB8AC3E}">
        <p14:creationId xmlns:p14="http://schemas.microsoft.com/office/powerpoint/2010/main" val="3414329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67BB54-0705-47D4-AD79-23D2DC11E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température de la nappe influence le COP de l’installation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7D0E5C6-9307-4EE4-8899-0866AD67A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6E7F842-23E4-4AB0-BEE4-DB5B89D0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16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55B503-732E-4EC8-B5B1-AB72B73CC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93" y="1729718"/>
            <a:ext cx="9144000" cy="346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56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8085D-6B67-4E65-A1D3-C0AA860C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Définition de la probabilité thermique d’atteinte de l’installation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4336A79-205F-4694-9944-96739927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72FEBF-0BF5-4018-AEB6-1F5118C7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17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3C82A7C-5599-45B7-A58A-94D4BBAE28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200"/>
          <a:stretch/>
        </p:blipFill>
        <p:spPr>
          <a:xfrm>
            <a:off x="663074" y="3861674"/>
            <a:ext cx="3086101" cy="201910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C166B7F-AC66-4D87-A182-E9E5679B0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169" y="3191569"/>
            <a:ext cx="5236831" cy="3867618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B1D5A3-4CBA-41A6-9B36-77A95075D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80" y="1825625"/>
            <a:ext cx="7886700" cy="2568575"/>
          </a:xfrm>
        </p:spPr>
        <p:txBody>
          <a:bodyPr>
            <a:normAutofit/>
          </a:bodyPr>
          <a:lstStyle/>
          <a:p>
            <a:r>
              <a:rPr lang="fr-FR" sz="2000" dirty="0"/>
              <a:t>On cherche à déterminer, la relation entre une puissance thermique injectée et l’impact thermique consécutif au niveau de l’installation.</a:t>
            </a:r>
          </a:p>
          <a:p>
            <a:r>
              <a:rPr lang="fr-FR" sz="2000" dirty="0"/>
              <a:t>Il s’agit d’un problème analogue à la contamination d’un captage d’eau potable et à la définition d’un périmètre de protection,</a:t>
            </a:r>
          </a:p>
          <a:p>
            <a:r>
              <a:rPr lang="fr-FR" sz="2000" dirty="0"/>
              <a:t>On sait résoudre ce type de problème en cartographiant les probabilités d’atteindre une installation. </a:t>
            </a:r>
          </a:p>
        </p:txBody>
      </p:sp>
    </p:spTree>
    <p:extLst>
      <p:ext uri="{BB962C8B-B14F-4D97-AF65-F5344CB8AC3E}">
        <p14:creationId xmlns:p14="http://schemas.microsoft.com/office/powerpoint/2010/main" val="729510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B61C1-FABB-4F86-BD5E-25FDEE4D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>
            <a:normAutofit/>
          </a:bodyPr>
          <a:lstStyle/>
          <a:p>
            <a:r>
              <a:rPr lang="fr-FR" sz="3600" dirty="0"/>
              <a:t>Perturbation thermique induite par une installation tierce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694DC0-EC7B-4687-A0DB-D409311E7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D59459-A915-487B-8617-D62D8C25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18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E302780-494E-4886-BF14-89E52AE4B3BD}"/>
                  </a:ext>
                </a:extLst>
              </p:cNvPr>
              <p:cNvSpPr/>
              <p:nvPr/>
            </p:nvSpPr>
            <p:spPr>
              <a:xfrm>
                <a:off x="4094772" y="1554165"/>
                <a:ext cx="4745407" cy="6288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fr-FR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l-GR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fr-FR" sz="4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E302780-494E-4886-BF14-89E52AE4B3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772" y="1554165"/>
                <a:ext cx="4745407" cy="6288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429AE740-4FB1-43F3-BBF7-5965844BC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6831" y="1554165"/>
            <a:ext cx="4576431" cy="33798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A70ACB-5BB1-44AB-9AFB-2D13FFFB5DAC}"/>
                  </a:ext>
                </a:extLst>
              </p:cNvPr>
              <p:cNvSpPr/>
              <p:nvPr/>
            </p:nvSpPr>
            <p:spPr>
              <a:xfrm>
                <a:off x="-63331" y="1554165"/>
                <a:ext cx="5657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A70ACB-5BB1-44AB-9AFB-2D13FFFB5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331" y="1554165"/>
                <a:ext cx="56579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414784-A21E-4945-A653-E977E33E9220}"/>
                  </a:ext>
                </a:extLst>
              </p:cNvPr>
              <p:cNvSpPr/>
              <p:nvPr/>
            </p:nvSpPr>
            <p:spPr>
              <a:xfrm>
                <a:off x="2237625" y="3728926"/>
                <a:ext cx="680250" cy="556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A414784-A21E-4945-A653-E977E33E92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625" y="3728926"/>
                <a:ext cx="680250" cy="556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D9B293A-F973-440B-A94E-51D4E3B107EC}"/>
                  </a:ext>
                </a:extLst>
              </p:cNvPr>
              <p:cNvSpPr/>
              <p:nvPr/>
            </p:nvSpPr>
            <p:spPr>
              <a:xfrm>
                <a:off x="1576259" y="4053668"/>
                <a:ext cx="68025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D9B293A-F973-440B-A94E-51D4E3B10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259" y="4053668"/>
                <a:ext cx="68025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767338F-00E1-45B6-BBF6-56B6BFFD25A7}"/>
                  </a:ext>
                </a:extLst>
              </p:cNvPr>
              <p:cNvSpPr/>
              <p:nvPr/>
            </p:nvSpPr>
            <p:spPr>
              <a:xfrm>
                <a:off x="702986" y="3930557"/>
                <a:ext cx="5525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6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fr-FR" sz="36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767338F-00E1-45B6-BBF6-56B6BFFD25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6" y="3930557"/>
                <a:ext cx="552587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2B1F537D-9894-42CD-B28A-F6ED80EB52A2}"/>
              </a:ext>
            </a:extLst>
          </p:cNvPr>
          <p:cNvSpPr/>
          <p:nvPr/>
        </p:nvSpPr>
        <p:spPr>
          <a:xfrm>
            <a:off x="762000" y="3647440"/>
            <a:ext cx="1386840" cy="406228"/>
          </a:xfrm>
          <a:custGeom>
            <a:avLst/>
            <a:gdLst>
              <a:gd name="connsiteX0" fmla="*/ 0 w 1386840"/>
              <a:gd name="connsiteY0" fmla="*/ 0 h 406228"/>
              <a:gd name="connsiteX1" fmla="*/ 137160 w 1386840"/>
              <a:gd name="connsiteY1" fmla="*/ 157480 h 406228"/>
              <a:gd name="connsiteX2" fmla="*/ 360680 w 1386840"/>
              <a:gd name="connsiteY2" fmla="*/ 325120 h 406228"/>
              <a:gd name="connsiteX3" fmla="*/ 731520 w 1386840"/>
              <a:gd name="connsiteY3" fmla="*/ 401320 h 406228"/>
              <a:gd name="connsiteX4" fmla="*/ 1061720 w 1386840"/>
              <a:gd name="connsiteY4" fmla="*/ 391160 h 406228"/>
              <a:gd name="connsiteX5" fmla="*/ 1386840 w 1386840"/>
              <a:gd name="connsiteY5" fmla="*/ 330200 h 406228"/>
              <a:gd name="connsiteX6" fmla="*/ 1386840 w 1386840"/>
              <a:gd name="connsiteY6" fmla="*/ 330200 h 406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840" h="406228">
                <a:moveTo>
                  <a:pt x="0" y="0"/>
                </a:moveTo>
                <a:cubicBezTo>
                  <a:pt x="38523" y="51646"/>
                  <a:pt x="77047" y="103293"/>
                  <a:pt x="137160" y="157480"/>
                </a:cubicBezTo>
                <a:cubicBezTo>
                  <a:pt x="197273" y="211667"/>
                  <a:pt x="261620" y="284480"/>
                  <a:pt x="360680" y="325120"/>
                </a:cubicBezTo>
                <a:cubicBezTo>
                  <a:pt x="459740" y="365760"/>
                  <a:pt x="614680" y="390313"/>
                  <a:pt x="731520" y="401320"/>
                </a:cubicBezTo>
                <a:cubicBezTo>
                  <a:pt x="848360" y="412327"/>
                  <a:pt x="952500" y="403013"/>
                  <a:pt x="1061720" y="391160"/>
                </a:cubicBezTo>
                <a:cubicBezTo>
                  <a:pt x="1170940" y="379307"/>
                  <a:pt x="1386840" y="330200"/>
                  <a:pt x="1386840" y="330200"/>
                </a:cubicBezTo>
                <a:lnTo>
                  <a:pt x="1386840" y="330200"/>
                </a:lnTo>
              </a:path>
            </a:pathLst>
          </a:custGeom>
          <a:noFill/>
          <a:ln w="57150">
            <a:solidFill>
              <a:schemeClr val="accent6">
                <a:lumMod val="75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space réservé du contenu 2">
                <a:extLst>
                  <a:ext uri="{FF2B5EF4-FFF2-40B4-BE49-F238E27FC236}">
                    <a16:creationId xmlns:a16="http://schemas.microsoft.com/office/drawing/2014/main" id="{7647B0C7-10BF-4B25-ABEB-A17A70E3CB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4320" y="2226099"/>
                <a:ext cx="4152900" cy="19163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fr-FR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1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800" dirty="0"/>
                  <a:t>= Puissance tierce injectée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FR" sz="18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sz="18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800" dirty="0"/>
                  <a:t>= Probabilité thermique d’atteinte de l’installation du pétitionnaire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GB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GB" sz="1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800" dirty="0"/>
                  <a:t>= Débit de l’installation du pétitionnaire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800" dirty="0"/>
                  <a:t>= Différence de température causée par la tierce installation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fr-FR" sz="1800" dirty="0"/>
                  <a:t> = Capacité thermique de l’eau</a:t>
                </a:r>
              </a:p>
            </p:txBody>
          </p:sp>
        </mc:Choice>
        <mc:Fallback xmlns="">
          <p:sp>
            <p:nvSpPr>
              <p:cNvPr id="15" name="Espace réservé du contenu 2">
                <a:extLst>
                  <a:ext uri="{FF2B5EF4-FFF2-40B4-BE49-F238E27FC236}">
                    <a16:creationId xmlns:a16="http://schemas.microsoft.com/office/drawing/2014/main" id="{7647B0C7-10BF-4B25-ABEB-A17A70E3C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320" y="2226099"/>
                <a:ext cx="4152900" cy="1916310"/>
              </a:xfrm>
              <a:prstGeom prst="rect">
                <a:avLst/>
              </a:prstGeom>
              <a:blipFill>
                <a:blip r:embed="rId9"/>
                <a:stretch>
                  <a:fillRect l="-1322" t="-2857" b="-403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e 18">
            <a:extLst>
              <a:ext uri="{FF2B5EF4-FFF2-40B4-BE49-F238E27FC236}">
                <a16:creationId xmlns:a16="http://schemas.microsoft.com/office/drawing/2014/main" id="{02EF11A1-BA7C-4487-AFAE-D2A7AD3143B8}"/>
              </a:ext>
            </a:extLst>
          </p:cNvPr>
          <p:cNvGrpSpPr/>
          <p:nvPr/>
        </p:nvGrpSpPr>
        <p:grpSpPr>
          <a:xfrm>
            <a:off x="457530" y="4847455"/>
            <a:ext cx="8709736" cy="830997"/>
            <a:chOff x="292857" y="4914580"/>
            <a:chExt cx="8709736" cy="830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04CF096F-B047-465A-B788-023979BA6543}"/>
                    </a:ext>
                  </a:extLst>
                </p:cNvPr>
                <p:cNvSpPr/>
                <p:nvPr/>
              </p:nvSpPr>
              <p:spPr>
                <a:xfrm>
                  <a:off x="4257186" y="4914580"/>
                  <a:ext cx="4745407" cy="83099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fr-FR" sz="32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fr-FR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GB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l-GR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fr-F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fr-FR" sz="4800" dirty="0"/>
                    <a:t>/</a:t>
                  </a:r>
                  <a:r>
                    <a:rPr lang="fr-FR" sz="4800" dirty="0">
                      <a:solidFill>
                        <a:srgbClr val="7030A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fr-FR" sz="4800" dirty="0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04CF096F-B047-465A-B788-023979BA65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7186" y="4914580"/>
                  <a:ext cx="4745407" cy="830997"/>
                </a:xfrm>
                <a:prstGeom prst="rect">
                  <a:avLst/>
                </a:prstGeom>
                <a:blipFill>
                  <a:blip r:embed="rId10"/>
                  <a:stretch>
                    <a:fillRect t="-16058" b="-3795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095E703-E705-4C46-96C3-107F4E99AF1C}"/>
                </a:ext>
              </a:extLst>
            </p:cNvPr>
            <p:cNvSpPr/>
            <p:nvPr/>
          </p:nvSpPr>
          <p:spPr>
            <a:xfrm>
              <a:off x="518808" y="5138818"/>
              <a:ext cx="4572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fr-FR" sz="2800" dirty="0"/>
                <a:t>Critère de protection :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3DFA2A-7848-4906-8C2B-F9065BC96410}"/>
                </a:ext>
              </a:extLst>
            </p:cNvPr>
            <p:cNvSpPr/>
            <p:nvPr/>
          </p:nvSpPr>
          <p:spPr>
            <a:xfrm>
              <a:off x="292857" y="5050896"/>
              <a:ext cx="7928658" cy="67500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525933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231CFD-6FE7-4E3C-A16F-51083AB3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799" y="97564"/>
            <a:ext cx="5939207" cy="1630363"/>
          </a:xfrm>
        </p:spPr>
        <p:txBody>
          <a:bodyPr>
            <a:normAutofit/>
          </a:bodyPr>
          <a:lstStyle/>
          <a:p>
            <a:pPr algn="r"/>
            <a:r>
              <a:rPr lang="fr-FR" sz="3600" dirty="0"/>
              <a:t>Utilisation d’un modèle numérique à l’échelle d’un projet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808119-C938-46AE-8075-2FACCD61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C9ACF4-8EB1-49AC-9A98-48F8F978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19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C79C5DD-6703-430E-919A-8F2BB767E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094085"/>
            <a:ext cx="9139607" cy="376391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5A17119-E0D8-43CF-AC74-F4E518461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562" y="1268848"/>
            <a:ext cx="3906837" cy="192896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7EAD035-4803-4FFE-8123-F332E7BFD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30861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089923-87BD-4842-ADF7-192A53DC6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1856"/>
            <a:ext cx="7767204" cy="1325563"/>
          </a:xfrm>
        </p:spPr>
        <p:txBody>
          <a:bodyPr>
            <a:normAutofit/>
          </a:bodyPr>
          <a:lstStyle/>
          <a:p>
            <a:r>
              <a:rPr lang="fr-FR" sz="4000" dirty="0"/>
              <a:t>Pour en savoir plus, </a:t>
            </a:r>
            <a:r>
              <a:rPr lang="fr-FR" sz="4000" b="1" u="sng" dirty="0">
                <a:hlinkClick r:id="rId2"/>
              </a:rPr>
              <a:t>google scholar </a:t>
            </a:r>
            <a:br>
              <a:rPr lang="fr-FR" sz="4000" b="1" u="sng" dirty="0"/>
            </a:br>
            <a:r>
              <a:rPr lang="fr-FR" sz="4000" dirty="0"/>
              <a:t>est votre ami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30EBEB-71F9-4574-B985-4A2F7D00C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3629456"/>
          </a:xfrm>
        </p:spPr>
        <p:txBody>
          <a:bodyPr>
            <a:normAutofit fontScale="70000" lnSpcReduction="20000"/>
          </a:bodyPr>
          <a:lstStyle/>
          <a:p>
            <a:r>
              <a:rPr lang="en-US" sz="2000" dirty="0"/>
              <a:t>Benz, S. A., Bayer, P., </a:t>
            </a:r>
            <a:r>
              <a:rPr lang="en-US" sz="2000" dirty="0" err="1"/>
              <a:t>Menberg</a:t>
            </a:r>
            <a:r>
              <a:rPr lang="en-US" sz="2000" dirty="0"/>
              <a:t>, K., Jung, S., &amp; Blum, P. (2015). Spatial resolution of anthropogenic heat fluxes into urban aquifers. Science of The Total Environment, 524, 427-439.</a:t>
            </a:r>
          </a:p>
          <a:p>
            <a:r>
              <a:rPr lang="en-US" sz="2000" dirty="0" err="1"/>
              <a:t>Haehnlein</a:t>
            </a:r>
            <a:r>
              <a:rPr lang="en-US" sz="2000" dirty="0"/>
              <a:t>, S., Bayer, P., &amp; Blum, P. (2010). International legal status of the use of shallow geothermal energy. Renewable and Sustainable Energy Reviews, 14(9), 2611-2625.</a:t>
            </a:r>
          </a:p>
          <a:p>
            <a:r>
              <a:rPr lang="en-US" sz="2000" dirty="0"/>
              <a:t>Herbert, A., Arthur, S., &amp; Chillingworth, G. (2013). Thermal modelling of large scale exploitation of ground source energy in urban aquifers as a resource management tool. Applied energy, 109, 94-103.</a:t>
            </a:r>
            <a:endParaRPr lang="fr-FR" sz="2000" dirty="0"/>
          </a:p>
          <a:p>
            <a:r>
              <a:rPr lang="en-US" sz="2000" dirty="0" err="1"/>
              <a:t>Kammen</a:t>
            </a:r>
            <a:r>
              <a:rPr lang="en-US" sz="2000" dirty="0"/>
              <a:t>, D. M., &amp; </a:t>
            </a:r>
            <a:r>
              <a:rPr lang="en-US" sz="2000" dirty="0" err="1"/>
              <a:t>Sunter</a:t>
            </a:r>
            <a:r>
              <a:rPr lang="en-US" sz="2000" dirty="0"/>
              <a:t>, D. A. (2016). City-integrated renewable energy for urban sustainability. </a:t>
            </a:r>
            <a:r>
              <a:rPr lang="en-US" sz="2000" i="1" dirty="0"/>
              <a:t>Science</a:t>
            </a:r>
            <a:r>
              <a:rPr lang="en-US" sz="2000" dirty="0"/>
              <a:t>, </a:t>
            </a:r>
            <a:r>
              <a:rPr lang="en-US" sz="2000" i="1" dirty="0"/>
              <a:t>352</a:t>
            </a:r>
            <a:r>
              <a:rPr lang="en-US" sz="2000" dirty="0"/>
              <a:t>(6288), 922-928.</a:t>
            </a:r>
          </a:p>
          <a:p>
            <a:r>
              <a:rPr lang="en-US" sz="2000" dirty="0"/>
              <a:t>Milnes, E., &amp; </a:t>
            </a:r>
            <a:r>
              <a:rPr lang="en-US" sz="2000" dirty="0" err="1"/>
              <a:t>Perrochet</a:t>
            </a:r>
            <a:r>
              <a:rPr lang="en-US" sz="2000" dirty="0"/>
              <a:t>, P. (2013). Assessing the impact of thermal feedback and recycling in open-loop groundwater heat pump (GWHP) systems: a complementary design tool. Hydrogeology journal, 21(2), 505-514.</a:t>
            </a:r>
          </a:p>
          <a:p>
            <a:r>
              <a:rPr lang="en-US" sz="2000" dirty="0" err="1"/>
              <a:t>Pophillat</a:t>
            </a:r>
            <a:r>
              <a:rPr lang="en-US" sz="2000" dirty="0"/>
              <a:t>, W., Attard, G., Bayer, P., Hecht-Méndez, J., &amp; Blum, P. (2018). Analytical solutions for predicting thermal plumes of groundwater heat pump systems. </a:t>
            </a:r>
            <a:r>
              <a:rPr lang="en-US" sz="2000" i="1" dirty="0"/>
              <a:t>Renewable energy</a:t>
            </a:r>
            <a:r>
              <a:rPr lang="en-US" sz="2000" dirty="0"/>
              <a:t>.</a:t>
            </a:r>
          </a:p>
          <a:p>
            <a:r>
              <a:rPr lang="en-US" sz="2000" dirty="0"/>
              <a:t>https://hydrologie.org/BIB/manuels/gdm-hydrogeologie.pdf</a:t>
            </a:r>
          </a:p>
          <a:p>
            <a:r>
              <a:rPr lang="en-US" sz="2000" dirty="0"/>
              <a:t>http://www.geothermie-perspectives.fr/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CBBC5-88AE-445A-BA56-348B0A5ACCFE}"/>
              </a:ext>
            </a:extLst>
          </p:cNvPr>
          <p:cNvSpPr/>
          <p:nvPr/>
        </p:nvSpPr>
        <p:spPr>
          <a:xfrm>
            <a:off x="914400" y="603120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4F47CC-2C6D-4A6D-8257-AFB82F24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Exploitation thermique de l'eau souterraine</a:t>
            </a:r>
            <a:endParaRPr lang="fr-FR" dirty="0"/>
          </a:p>
        </p:txBody>
      </p:sp>
      <p:pic>
        <p:nvPicPr>
          <p:cNvPr id="1026" name="Picture 2" descr="Résultat de recherche d'images pour &quot;coeur&quot;">
            <a:extLst>
              <a:ext uri="{FF2B5EF4-FFF2-40B4-BE49-F238E27FC236}">
                <a16:creationId xmlns:a16="http://schemas.microsoft.com/office/drawing/2014/main" id="{F63C0F3D-91F1-43FB-8344-2E4846A07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254" y="392782"/>
            <a:ext cx="609600" cy="59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4E8ED5-12B4-4BB1-BCEF-FCE6AD5C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296BC-ECBD-4CC1-9D5D-E102299FA17B}" type="slidenum">
              <a:rPr lang="fr-FR" smtClean="0"/>
              <a:t>20</a:t>
            </a:fld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181AF8-49A0-46DC-8194-81CAF97E0EC8}"/>
              </a:ext>
            </a:extLst>
          </p:cNvPr>
          <p:cNvSpPr/>
          <p:nvPr/>
        </p:nvSpPr>
        <p:spPr>
          <a:xfrm>
            <a:off x="914400" y="5071957"/>
            <a:ext cx="76009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chemeClr val="accent2"/>
                </a:solidFill>
              </a:rPr>
              <a:t>Une question ? </a:t>
            </a:r>
          </a:p>
          <a:p>
            <a:r>
              <a:rPr lang="fr-FR" dirty="0"/>
              <a:t>Vous pouvez me contacter à l’adresse suivante : guillaume.attard@cerema.fr</a:t>
            </a:r>
          </a:p>
        </p:txBody>
      </p:sp>
    </p:spTree>
    <p:extLst>
      <p:ext uri="{BB962C8B-B14F-4D97-AF65-F5344CB8AC3E}">
        <p14:creationId xmlns:p14="http://schemas.microsoft.com/office/powerpoint/2010/main" val="2762684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5494</TotalTime>
  <Words>1104</Words>
  <Application>Microsoft Office PowerPoint</Application>
  <PresentationFormat>Affichage à l'écran (4:3)</PresentationFormat>
  <Paragraphs>165</Paragraphs>
  <Slides>20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Times New Roman</vt:lpstr>
      <vt:lpstr>Thème Office</vt:lpstr>
      <vt:lpstr>Exploitation thermique de l’eau souterraine par la géothermie basse température </vt:lpstr>
      <vt:lpstr>Présentation PowerPoint</vt:lpstr>
      <vt:lpstr>Quelques dispositifs géothermiques classiques </vt:lpstr>
      <vt:lpstr>Le contexte règlementaire de la géothermie de minime importance (GMI)</vt:lpstr>
      <vt:lpstr>Les particularité du milieu urbain</vt:lpstr>
      <vt:lpstr>Focus sur les dispositifs géothermiques ouverts sur eau de nappe</vt:lpstr>
      <vt:lpstr>Fonctionnement d’une PAC sur eau de nappe</vt:lpstr>
      <vt:lpstr>Effet hydraulique d’un pompage ou d’une injection</vt:lpstr>
      <vt:lpstr>Influence d’un puits de pompage sur un écoulement régional</vt:lpstr>
      <vt:lpstr>Systèmes d’écoulement et zone de capture autour d’un puits de pompage</vt:lpstr>
      <vt:lpstr>Systèmes d’écoulement et zone de capture autour d’un puits d’injection</vt:lpstr>
      <vt:lpstr>Problème du recyclage</vt:lpstr>
      <vt:lpstr>Critère pour éviter le recyclage</vt:lpstr>
      <vt:lpstr>Impact thermique à l’aval d’un puits d’injection</vt:lpstr>
      <vt:lpstr>Définir un périmètre de protection (volume d’exploitation) autour des installations</vt:lpstr>
      <vt:lpstr>La température de la nappe influence le COP de l’installation</vt:lpstr>
      <vt:lpstr>Définition de la probabilité thermique d’atteinte de l’installation</vt:lpstr>
      <vt:lpstr>Perturbation thermique induite par une installation tierce</vt:lpstr>
      <vt:lpstr>Utilisation d’un modèle numérique à l’échelle d’un projet</vt:lpstr>
      <vt:lpstr>Pour en savoir plus, google scholar  est votre ami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M. Guillaume ATTARD</dc:creator>
  <cp:lastModifiedBy>M. Guillaume ATTARD</cp:lastModifiedBy>
  <cp:revision>254</cp:revision>
  <cp:lastPrinted>2018-10-01T11:52:21Z</cp:lastPrinted>
  <dcterms:created xsi:type="dcterms:W3CDTF">2018-07-06T06:35:20Z</dcterms:created>
  <dcterms:modified xsi:type="dcterms:W3CDTF">2019-10-18T11:42:12Z</dcterms:modified>
</cp:coreProperties>
</file>